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4BDA73-CCB9-4FE1-8DAA-22D9A3B5FAEB}" v="266" dt="2023-05-14T11:20:45.661"/>
    <p1510:client id="{49AAA915-FD24-40E3-B236-BBE1818E4897}" v="546" dt="2023-05-18T18:19:45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viewProps.xml" Id="rId8" /><Relationship Type="http://schemas.openxmlformats.org/officeDocument/2006/relationships/slide" Target="slides/slide2.xml" Id="rId3" /><Relationship Type="http://schemas.openxmlformats.org/officeDocument/2006/relationships/presProps" Target="presProps.xml" Id="rId7" /><Relationship Type="http://schemas.microsoft.com/office/2015/10/relationships/revisionInfo" Target="revisionInfo.xml" Id="rId12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slide" Target="slides/slide4.xml" Id="rId5" /><Relationship Type="http://schemas.openxmlformats.org/officeDocument/2006/relationships/tableStyles" Target="tableStyles.xml" Id="rId10" /><Relationship Type="http://schemas.openxmlformats.org/officeDocument/2006/relationships/slide" Target="slides/slide3.xml" Id="rId4" /><Relationship Type="http://schemas.openxmlformats.org/officeDocument/2006/relationships/theme" Target="theme/theme1.xml" Id="rId9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50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282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782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866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1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750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995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508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012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759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779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890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0588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21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8274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0538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908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184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6" name="Rectangle 15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17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93184" y="643468"/>
            <a:ext cx="11955886" cy="16441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/>
              <a:t>Videóvágó és képszerkesztő</a:t>
            </a:r>
          </a:p>
        </p:txBody>
      </p:sp>
      <p:sp>
        <p:nvSpPr>
          <p:cNvPr id="15" name="Tartalom helye 14">
            <a:extLst>
              <a:ext uri="{FF2B5EF4-FFF2-40B4-BE49-F238E27FC236}">
                <a16:creationId xmlns:a16="http://schemas.microsoft.com/office/drawing/2014/main" id="{6C497E7E-DB66-D076-1499-5E472B1A31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80312" y="3901224"/>
            <a:ext cx="4895055" cy="3124201"/>
          </a:xfrm>
        </p:spPr>
        <p:txBody>
          <a:bodyPr/>
          <a:lstStyle/>
          <a:p>
            <a:r>
              <a:rPr lang="hu-HU" dirty="0"/>
              <a:t>Készítette: Nagy Zoltán és Patai Dániel</a:t>
            </a:r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B341C8-47F9-6A69-9863-86BD2638A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120" y="-484031"/>
            <a:ext cx="7287088" cy="38175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b="1" err="1">
                <a:solidFill>
                  <a:srgbClr val="000000"/>
                </a:solidFill>
                <a:latin typeface="Calibri"/>
                <a:cs typeface="Calibri"/>
              </a:rPr>
              <a:t>Tanárúrtól</a:t>
            </a:r>
            <a:r>
              <a:rPr lang="en-US" sz="31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100" b="1" err="1">
                <a:solidFill>
                  <a:srgbClr val="000000"/>
                </a:solidFill>
                <a:latin typeface="Calibri"/>
                <a:cs typeface="Calibri"/>
              </a:rPr>
              <a:t>kaptunk</a:t>
            </a:r>
            <a:r>
              <a:rPr lang="en-US" sz="31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100" b="1" err="1">
                <a:solidFill>
                  <a:srgbClr val="000000"/>
                </a:solidFill>
                <a:latin typeface="Calibri"/>
                <a:cs typeface="Calibri"/>
              </a:rPr>
              <a:t>egy</a:t>
            </a:r>
            <a:r>
              <a:rPr lang="en-US" sz="31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100" b="1" err="1">
                <a:solidFill>
                  <a:srgbClr val="000000"/>
                </a:solidFill>
                <a:latin typeface="Calibri"/>
                <a:cs typeface="Calibri"/>
              </a:rPr>
              <a:t>feladatot</a:t>
            </a:r>
            <a:r>
              <a:rPr lang="en-US" sz="31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100" b="1" err="1">
                <a:solidFill>
                  <a:srgbClr val="000000"/>
                </a:solidFill>
                <a:latin typeface="Calibri"/>
                <a:cs typeface="Calibri"/>
              </a:rPr>
              <a:t>hogy</a:t>
            </a:r>
            <a:r>
              <a:rPr lang="en-US" sz="31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100" b="1" err="1">
                <a:solidFill>
                  <a:srgbClr val="000000"/>
                </a:solidFill>
                <a:latin typeface="Calibri"/>
                <a:cs typeface="Calibri"/>
              </a:rPr>
              <a:t>készítsünk</a:t>
            </a:r>
            <a:r>
              <a:rPr lang="en-US" sz="31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100" b="1" err="1">
                <a:solidFill>
                  <a:srgbClr val="000000"/>
                </a:solidFill>
                <a:latin typeface="Calibri"/>
                <a:cs typeface="Calibri"/>
              </a:rPr>
              <a:t>egy</a:t>
            </a:r>
            <a:r>
              <a:rPr lang="en-US" sz="31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100" b="1" err="1">
                <a:solidFill>
                  <a:srgbClr val="000000"/>
                </a:solidFill>
                <a:latin typeface="Calibri"/>
                <a:cs typeface="Calibri"/>
              </a:rPr>
              <a:t>kisvállalkozást</a:t>
            </a:r>
            <a:r>
              <a:rPr lang="en-US" sz="3100" b="1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93DD45-C828-9AF8-40C5-86BAB7565B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6516" y="2206416"/>
            <a:ext cx="4949831" cy="33796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79705" indent="-179705" defTabSz="288036">
              <a:spcAft>
                <a:spcPts val="378"/>
              </a:spcAft>
            </a:pPr>
            <a:r>
              <a:rPr lang="hu-HU" sz="2000" kern="1200" cap="none" dirty="0">
                <a:effectLst/>
                <a:latin typeface="+mn-lt"/>
                <a:ea typeface="+mn-ea"/>
                <a:cs typeface="+mn-cs"/>
              </a:rPr>
              <a:t>Tervezés:</a:t>
            </a:r>
            <a:endParaRPr lang="hu-HU" sz="2000" kern="1200" cap="none" dirty="0">
              <a:effectLst/>
              <a:latin typeface="+mn-lt"/>
            </a:endParaRPr>
          </a:p>
          <a:p>
            <a:pPr marL="179705" indent="-179705" defTabSz="288036">
              <a:spcAft>
                <a:spcPts val="378"/>
              </a:spcAft>
              <a:buClr>
                <a:srgbClr val="1287C3"/>
              </a:buClr>
              <a:buFont typeface="Calibri"/>
              <a:buChar char="-"/>
            </a:pPr>
            <a:r>
              <a:rPr lang="hu-HU" sz="2000" kern="1200" cap="none" dirty="0">
                <a:effectLst/>
                <a:latin typeface="+mn-lt"/>
                <a:ea typeface="+mn-ea"/>
                <a:cs typeface="+mn-cs"/>
              </a:rPr>
              <a:t>Mindketten csináljuk mindkettőt(</a:t>
            </a:r>
            <a:r>
              <a:rPr lang="hu-HU" sz="2000" kern="1200" cap="none" err="1">
                <a:effectLst/>
                <a:latin typeface="+mn-lt"/>
                <a:ea typeface="+mn-ea"/>
                <a:cs typeface="+mn-cs"/>
              </a:rPr>
              <a:t>ppt</a:t>
            </a:r>
            <a:r>
              <a:rPr lang="hu-HU" sz="2000" kern="1200" cap="none" dirty="0">
                <a:effectLst/>
                <a:latin typeface="+mn-lt"/>
                <a:ea typeface="+mn-ea"/>
                <a:cs typeface="+mn-cs"/>
              </a:rPr>
              <a:t> - </a:t>
            </a:r>
            <a:r>
              <a:rPr lang="hu-HU" sz="2000" kern="1200" cap="none" err="1">
                <a:effectLst/>
                <a:latin typeface="+mn-lt"/>
                <a:ea typeface="+mn-ea"/>
                <a:cs typeface="+mn-cs"/>
              </a:rPr>
              <a:t>cisco</a:t>
            </a:r>
            <a:r>
              <a:rPr lang="hu-HU" sz="2000" kern="1200" cap="none" dirty="0">
                <a:effectLst/>
                <a:latin typeface="+mn-lt"/>
                <a:ea typeface="+mn-ea"/>
                <a:cs typeface="+mn-cs"/>
              </a:rPr>
              <a:t>)</a:t>
            </a:r>
            <a:endParaRPr lang="hu-HU" sz="2000" kern="1200" cap="none" dirty="0">
              <a:effectLst/>
              <a:latin typeface="+mn-lt"/>
            </a:endParaRPr>
          </a:p>
          <a:p>
            <a:pPr marL="179705" indent="-179705" defTabSz="288036">
              <a:spcAft>
                <a:spcPts val="378"/>
              </a:spcAft>
              <a:buClr>
                <a:srgbClr val="1287C3"/>
              </a:buClr>
              <a:buFont typeface="Calibri"/>
              <a:buChar char="-"/>
            </a:pPr>
            <a:r>
              <a:rPr lang="hu-HU" sz="2000" kern="1200" cap="none" dirty="0">
                <a:effectLst/>
                <a:latin typeface="+mn-lt"/>
                <a:ea typeface="+mn-ea"/>
                <a:cs typeface="+mn-cs"/>
              </a:rPr>
              <a:t>Először megcsináljuk a vállalkozás alapját majd a </a:t>
            </a:r>
            <a:r>
              <a:rPr lang="hu-HU" sz="2000" dirty="0" err="1"/>
              <a:t>ppt</a:t>
            </a:r>
            <a:r>
              <a:rPr lang="hu-HU" sz="2000" dirty="0"/>
              <a:t>-t</a:t>
            </a:r>
            <a:r>
              <a:rPr lang="hu-HU" sz="2000" kern="1200" cap="none" dirty="0">
                <a:effectLst/>
                <a:latin typeface="+mn-lt"/>
                <a:ea typeface="+mn-ea"/>
                <a:cs typeface="+mn-cs"/>
              </a:rPr>
              <a:t>.</a:t>
            </a:r>
            <a:endParaRPr lang="hu-HU" sz="2000" kern="1200" cap="none" dirty="0">
              <a:effectLst/>
              <a:latin typeface="+mn-lt"/>
            </a:endParaRPr>
          </a:p>
          <a:p>
            <a:pPr marL="179705" indent="-179705" defTabSz="288036">
              <a:spcAft>
                <a:spcPts val="378"/>
              </a:spcAft>
              <a:buClr>
                <a:srgbClr val="1287C3"/>
              </a:buClr>
              <a:buFont typeface="Calibri"/>
              <a:buChar char="-"/>
            </a:pPr>
            <a:r>
              <a:rPr lang="hu-HU" sz="2000" kern="1200" cap="none" dirty="0">
                <a:effectLst/>
                <a:latin typeface="+mn-lt"/>
                <a:ea typeface="+mn-ea"/>
                <a:cs typeface="+mn-cs"/>
              </a:rPr>
              <a:t>Maximum 8 millió  vagy az alatt</a:t>
            </a:r>
            <a:endParaRPr lang="hu-HU" sz="2000" kern="1200" cap="none" dirty="0">
              <a:effectLst/>
              <a:latin typeface="+mn-lt"/>
            </a:endParaRPr>
          </a:p>
          <a:p>
            <a:pPr>
              <a:buClr>
                <a:srgbClr val="1287C3"/>
              </a:buClr>
              <a:buFont typeface="Calibri"/>
              <a:buChar char="-"/>
            </a:pPr>
            <a:endParaRPr lang="hu-HU" sz="2000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FA21ED9-CFB8-47CE-C03F-BA5970CDE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8737" y="2253933"/>
            <a:ext cx="5406992" cy="29672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79705" indent="-179705" defTabSz="288036">
              <a:spcAft>
                <a:spcPts val="378"/>
              </a:spcAft>
            </a:pPr>
            <a:r>
              <a:rPr lang="hu-HU" sz="2000" kern="1200" cap="none" dirty="0">
                <a:effectLst/>
                <a:latin typeface="+mn-lt"/>
                <a:ea typeface="+mn-ea"/>
                <a:cs typeface="+mn-cs"/>
              </a:rPr>
              <a:t>Megvalósítás:</a:t>
            </a:r>
            <a:endParaRPr lang="hu-HU" sz="2000" kern="1200" cap="none" dirty="0">
              <a:effectLst/>
              <a:latin typeface="+mn-lt"/>
            </a:endParaRPr>
          </a:p>
          <a:p>
            <a:pPr marL="179705" indent="-179705" defTabSz="288036">
              <a:spcAft>
                <a:spcPts val="378"/>
              </a:spcAft>
              <a:buClr>
                <a:srgbClr val="1287C3"/>
              </a:buClr>
              <a:buFont typeface="Calibri"/>
              <a:buChar char="-"/>
            </a:pPr>
            <a:r>
              <a:rPr lang="hu-HU" sz="2000" kern="1200" cap="none" dirty="0">
                <a:effectLst/>
                <a:latin typeface="+mn-lt"/>
                <a:ea typeface="+mn-ea"/>
                <a:cs typeface="+mn-cs"/>
              </a:rPr>
              <a:t>Mindketten segítettünk egymásnak</a:t>
            </a:r>
            <a:endParaRPr lang="hu-HU" sz="2000" kern="1200" cap="none" dirty="0">
              <a:effectLst/>
              <a:latin typeface="+mn-lt"/>
            </a:endParaRPr>
          </a:p>
          <a:p>
            <a:pPr marL="179705" indent="-179705" defTabSz="288036">
              <a:spcAft>
                <a:spcPts val="378"/>
              </a:spcAft>
              <a:buClr>
                <a:srgbClr val="1287C3"/>
              </a:buClr>
              <a:buFont typeface="Calibri"/>
              <a:buChar char="-"/>
            </a:pPr>
            <a:r>
              <a:rPr lang="hu-HU" sz="2000" kern="1200" cap="none" dirty="0">
                <a:effectLst/>
                <a:latin typeface="+mn-lt"/>
                <a:ea typeface="+mn-ea"/>
                <a:cs typeface="+mn-cs"/>
              </a:rPr>
              <a:t>Sikerült megcsinálni a vállalkozást, majd a </a:t>
            </a:r>
            <a:r>
              <a:rPr lang="hu-HU" sz="2000" err="1"/>
              <a:t>ppt</a:t>
            </a:r>
            <a:r>
              <a:rPr lang="hu-HU" sz="2000"/>
              <a:t>-t</a:t>
            </a:r>
            <a:endParaRPr lang="hu-HU" sz="2000" kern="1200" cap="none" dirty="0">
              <a:effectLst/>
              <a:latin typeface="+mn-lt"/>
            </a:endParaRPr>
          </a:p>
          <a:p>
            <a:pPr marL="179705" indent="-179705" defTabSz="288036">
              <a:spcAft>
                <a:spcPts val="378"/>
              </a:spcAft>
              <a:buClr>
                <a:srgbClr val="1287C3"/>
              </a:buClr>
              <a:buFont typeface="Calibri"/>
              <a:buChar char="-"/>
            </a:pPr>
            <a:r>
              <a:rPr lang="hu-HU" sz="2000" kern="1200" cap="none" dirty="0">
                <a:effectLst/>
                <a:latin typeface="+mn-lt"/>
                <a:ea typeface="+mn-ea"/>
                <a:cs typeface="+mn-cs"/>
              </a:rPr>
              <a:t>Sikerült 8 millió alatt megcsinálni a hálózatot</a:t>
            </a:r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4060912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C913EF5-5F91-A7ED-0FF5-7FBBDB27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818" y="685800"/>
            <a:ext cx="5060346" cy="59167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hu-HU" sz="2000" dirty="0">
                <a:solidFill>
                  <a:srgbClr val="4F4F4F"/>
                </a:solidFill>
                <a:latin typeface="Calibri"/>
                <a:ea typeface="+mj-lt"/>
                <a:cs typeface="+mj-lt"/>
              </a:rPr>
              <a:t>Samsung Galaxy A33 5G 6/128GB </a:t>
            </a:r>
            <a:r>
              <a:rPr lang="hu-HU" sz="2000" dirty="0" err="1">
                <a:solidFill>
                  <a:srgbClr val="4F4F4F"/>
                </a:solidFill>
                <a:latin typeface="Calibri"/>
                <a:ea typeface="+mj-lt"/>
                <a:cs typeface="+mj-lt"/>
              </a:rPr>
              <a:t>Dual</a:t>
            </a:r>
            <a:r>
              <a:rPr lang="hu-HU" sz="2000" dirty="0">
                <a:solidFill>
                  <a:srgbClr val="4F4F4F"/>
                </a:solidFill>
                <a:latin typeface="Calibri"/>
                <a:ea typeface="+mj-lt"/>
                <a:cs typeface="+mj-lt"/>
              </a:rPr>
              <a:t> SIM (3DB) –&gt;  372 684</a:t>
            </a:r>
            <a:br>
              <a:rPr lang="hu-HU" sz="2000" dirty="0">
                <a:solidFill>
                  <a:srgbClr val="4F4F4F"/>
                </a:solidFill>
                <a:latin typeface="Calibri"/>
                <a:ea typeface="+mj-lt"/>
                <a:cs typeface="+mj-lt"/>
              </a:rPr>
            </a:br>
            <a:r>
              <a:rPr lang="hu-HU" sz="2000" dirty="0">
                <a:solidFill>
                  <a:srgbClr val="4F4F4F"/>
                </a:solidFill>
                <a:latin typeface="Calibri"/>
                <a:ea typeface="+mj-lt"/>
                <a:cs typeface="+mj-lt"/>
              </a:rPr>
              <a:t>Dell </a:t>
            </a:r>
            <a:r>
              <a:rPr lang="hu-HU" sz="2000" dirty="0" err="1">
                <a:solidFill>
                  <a:srgbClr val="4F4F4F"/>
                </a:solidFill>
                <a:latin typeface="Calibri"/>
                <a:ea typeface="+mj-lt"/>
                <a:cs typeface="+mj-lt"/>
              </a:rPr>
              <a:t>Inspiron</a:t>
            </a:r>
            <a:r>
              <a:rPr lang="hu-HU" sz="2000" dirty="0">
                <a:solidFill>
                  <a:srgbClr val="4F4F4F"/>
                </a:solidFill>
                <a:latin typeface="Calibri"/>
                <a:ea typeface="+mj-lt"/>
                <a:cs typeface="+mj-lt"/>
              </a:rPr>
              <a:t> 5510 Silver (3DB) --&gt; 1 535 156</a:t>
            </a:r>
            <a:br>
              <a:rPr lang="hu-HU" sz="2000" dirty="0">
                <a:solidFill>
                  <a:srgbClr val="4F4F4F"/>
                </a:solidFill>
                <a:latin typeface="Calibri"/>
                <a:ea typeface="+mj-lt"/>
                <a:cs typeface="+mj-lt"/>
              </a:rPr>
            </a:br>
            <a:r>
              <a:rPr lang="hu-HU" sz="2000" dirty="0" err="1">
                <a:solidFill>
                  <a:srgbClr val="333333"/>
                </a:solidFill>
                <a:latin typeface="Calibri"/>
                <a:cs typeface="Calibri"/>
              </a:rPr>
              <a:t>Segotep</a:t>
            </a:r>
            <a:r>
              <a:rPr lang="hu-HU" sz="2000" b="1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hu-HU" sz="2000" dirty="0">
                <a:solidFill>
                  <a:srgbClr val="333333"/>
                </a:solidFill>
                <a:latin typeface="Calibri"/>
                <a:cs typeface="Calibri"/>
              </a:rPr>
              <a:t>SG</a:t>
            </a:r>
            <a:r>
              <a:rPr lang="hu-HU" sz="2000" b="1" dirty="0">
                <a:solidFill>
                  <a:srgbClr val="333333"/>
                </a:solidFill>
                <a:latin typeface="Calibri"/>
                <a:cs typeface="Calibri"/>
              </a:rPr>
              <a:t>-</a:t>
            </a:r>
            <a:r>
              <a:rPr lang="hu-HU" sz="2000" dirty="0">
                <a:solidFill>
                  <a:srgbClr val="333333"/>
                </a:solidFill>
                <a:latin typeface="Calibri"/>
                <a:cs typeface="Calibri"/>
              </a:rPr>
              <a:t>CL (3DB) --&gt; 2 456 321</a:t>
            </a:r>
            <a:br>
              <a:rPr lang="hu-HU" sz="2000" dirty="0">
                <a:solidFill>
                  <a:srgbClr val="333333"/>
                </a:solidFill>
                <a:latin typeface="Calibri"/>
                <a:cs typeface="Calibri"/>
              </a:rPr>
            </a:br>
            <a:r>
              <a:rPr lang="hu-HU" sz="2000" cap="all" dirty="0">
                <a:solidFill>
                  <a:srgbClr val="0A3562"/>
                </a:solidFill>
                <a:latin typeface="Calibri"/>
                <a:ea typeface="+mj-lt"/>
                <a:cs typeface="+mj-lt"/>
              </a:rPr>
              <a:t>CATALYST 2960-8TC MANAGED SWITCH WS-C2960-8TC-L (2</a:t>
            </a:r>
            <a:r>
              <a:rPr lang="hu-HU" sz="2000" cap="all" dirty="0">
                <a:solidFill>
                  <a:srgbClr val="333333"/>
                </a:solidFill>
                <a:latin typeface="Calibri"/>
                <a:ea typeface="+mj-lt"/>
                <a:cs typeface="Calibri"/>
              </a:rPr>
              <a:t>db) </a:t>
            </a:r>
            <a:r>
              <a:rPr lang="hu-HU" sz="2000" cap="all" dirty="0">
                <a:solidFill>
                  <a:srgbClr val="0A3562"/>
                </a:solidFill>
                <a:latin typeface="Calibri"/>
                <a:ea typeface="+mj-lt"/>
                <a:cs typeface="+mj-lt"/>
              </a:rPr>
              <a:t>--&gt; 235 167</a:t>
            </a:r>
            <a:br>
              <a:rPr lang="hu-HU" sz="2000" cap="all" dirty="0">
                <a:solidFill>
                  <a:srgbClr val="0A3562"/>
                </a:solidFill>
                <a:latin typeface="Calibri"/>
                <a:ea typeface="+mj-lt"/>
                <a:cs typeface="+mj-lt"/>
              </a:rPr>
            </a:br>
            <a:r>
              <a:rPr lang="hu-HU" sz="1900" dirty="0" err="1">
                <a:solidFill>
                  <a:srgbClr val="333333"/>
                </a:solidFill>
                <a:latin typeface="Calibri"/>
                <a:cs typeface="Calibri"/>
              </a:rPr>
              <a:t>Linksys</a:t>
            </a:r>
            <a:r>
              <a:rPr lang="hu-HU" sz="1900" dirty="0">
                <a:solidFill>
                  <a:srgbClr val="333333"/>
                </a:solidFill>
                <a:latin typeface="Calibri"/>
                <a:cs typeface="Calibri"/>
              </a:rPr>
              <a:t> Max-</a:t>
            </a:r>
            <a:r>
              <a:rPr lang="hu-HU" sz="1900" dirty="0" err="1">
                <a:solidFill>
                  <a:srgbClr val="333333"/>
                </a:solidFill>
                <a:latin typeface="Calibri"/>
                <a:cs typeface="Calibri"/>
              </a:rPr>
              <a:t>Stream</a:t>
            </a:r>
            <a:r>
              <a:rPr lang="hu-HU" sz="1900" dirty="0">
                <a:solidFill>
                  <a:srgbClr val="333333"/>
                </a:solidFill>
                <a:latin typeface="Calibri"/>
                <a:cs typeface="Calibri"/>
              </a:rPr>
              <a:t> MR6350 </a:t>
            </a:r>
            <a:r>
              <a:rPr lang="hu-HU" sz="1900" dirty="0" err="1">
                <a:solidFill>
                  <a:srgbClr val="333333"/>
                </a:solidFill>
                <a:latin typeface="Calibri"/>
                <a:cs typeface="Calibri"/>
              </a:rPr>
              <a:t>Dual</a:t>
            </a:r>
            <a:r>
              <a:rPr lang="hu-HU" sz="1900" dirty="0">
                <a:solidFill>
                  <a:srgbClr val="333333"/>
                </a:solidFill>
                <a:latin typeface="Calibri"/>
                <a:cs typeface="Calibri"/>
              </a:rPr>
              <a:t>-Band </a:t>
            </a:r>
            <a:r>
              <a:rPr lang="hu-HU" sz="1900" dirty="0" err="1">
                <a:solidFill>
                  <a:srgbClr val="333333"/>
                </a:solidFill>
                <a:latin typeface="Calibri"/>
                <a:cs typeface="Calibri"/>
              </a:rPr>
              <a:t>Mesh</a:t>
            </a:r>
            <a:r>
              <a:rPr lang="hu-HU" sz="1900" dirty="0">
                <a:solidFill>
                  <a:srgbClr val="333333"/>
                </a:solidFill>
                <a:latin typeface="Calibri"/>
                <a:cs typeface="Calibri"/>
              </a:rPr>
              <a:t> Router (2DB) --&gt; 356 212</a:t>
            </a:r>
            <a:endParaRPr lang="hu-HU" sz="2000" dirty="0">
              <a:solidFill>
                <a:srgbClr val="4F4F4F"/>
              </a:solidFill>
              <a:latin typeface="Calibri"/>
              <a:ea typeface="+mj-lt"/>
              <a:cs typeface="Calibri"/>
            </a:endParaRPr>
          </a:p>
          <a:p>
            <a:pPr algn="l"/>
            <a:endParaRPr lang="hu-HU" sz="2000" cap="all" dirty="0">
              <a:latin typeface="Calibri"/>
              <a:ea typeface="+mj-lt"/>
              <a:cs typeface="+mj-lt"/>
            </a:endParaRPr>
          </a:p>
          <a:p>
            <a:pPr algn="l"/>
            <a:br>
              <a:rPr lang="hu-HU" sz="2000" dirty="0">
                <a:solidFill>
                  <a:srgbClr val="4F4F4F"/>
                </a:solidFill>
                <a:latin typeface="Calibri"/>
                <a:ea typeface="+mj-lt"/>
                <a:cs typeface="+mj-lt"/>
              </a:rPr>
            </a:br>
            <a:br>
              <a:rPr lang="hu-HU" sz="2000" dirty="0">
                <a:solidFill>
                  <a:srgbClr val="4F4F4F"/>
                </a:solidFill>
                <a:latin typeface="Calibri"/>
                <a:ea typeface="+mj-lt"/>
                <a:cs typeface="+mj-lt"/>
              </a:rPr>
            </a:br>
            <a:br>
              <a:rPr lang="hu-HU" sz="2000" dirty="0">
                <a:solidFill>
                  <a:srgbClr val="4F4F4F"/>
                </a:solidFill>
                <a:latin typeface="Calibri"/>
                <a:ea typeface="+mj-lt"/>
                <a:cs typeface="+mj-lt"/>
              </a:rPr>
            </a:br>
            <a:br>
              <a:rPr lang="hu-HU" sz="2000" dirty="0">
                <a:solidFill>
                  <a:srgbClr val="4F4F4F"/>
                </a:solidFill>
                <a:latin typeface="Calibri"/>
                <a:ea typeface="+mj-lt"/>
                <a:cs typeface="+mj-lt"/>
              </a:rPr>
            </a:br>
            <a:br>
              <a:rPr lang="hu-HU" sz="2000" dirty="0">
                <a:solidFill>
                  <a:srgbClr val="4F4F4F"/>
                </a:solidFill>
                <a:latin typeface="Calibri"/>
                <a:ea typeface="+mj-lt"/>
                <a:cs typeface="+mj-lt"/>
              </a:rPr>
            </a:br>
            <a:br>
              <a:rPr lang="hu-HU" sz="2000" dirty="0">
                <a:solidFill>
                  <a:srgbClr val="4F4F4F"/>
                </a:solidFill>
                <a:latin typeface="Calibri"/>
                <a:ea typeface="+mj-lt"/>
                <a:cs typeface="+mj-lt"/>
              </a:rPr>
            </a:br>
            <a:br>
              <a:rPr lang="hu-HU" sz="2000" dirty="0">
                <a:solidFill>
                  <a:srgbClr val="4F4F4F"/>
                </a:solidFill>
                <a:latin typeface="Calibri"/>
                <a:ea typeface="+mj-lt"/>
                <a:cs typeface="+mj-lt"/>
              </a:rPr>
            </a:br>
            <a:endParaRPr lang="hu-HU" sz="2000" dirty="0">
              <a:solidFill>
                <a:srgbClr val="4F4F4F"/>
              </a:solidFill>
              <a:latin typeface="Calibri"/>
              <a:ea typeface="+mj-lt"/>
              <a:cs typeface="+mj-lt"/>
            </a:endParaRPr>
          </a:p>
        </p:txBody>
      </p:sp>
      <p:pic>
        <p:nvPicPr>
          <p:cNvPr id="5" name="Kép 5" descr="A képen szöveg, elektronika, számítógép látható&#10;&#10;Automatikusan generált leírás">
            <a:extLst>
              <a:ext uri="{FF2B5EF4-FFF2-40B4-BE49-F238E27FC236}">
                <a16:creationId xmlns:a16="http://schemas.microsoft.com/office/drawing/2014/main" id="{BE527532-11C9-628B-BFFA-1B5AA18F62A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5469" y="4480774"/>
            <a:ext cx="1715334" cy="2050962"/>
          </a:xfrm>
        </p:spPr>
      </p:pic>
      <p:pic>
        <p:nvPicPr>
          <p:cNvPr id="6" name="Kép 6">
            <a:extLst>
              <a:ext uri="{FF2B5EF4-FFF2-40B4-BE49-F238E27FC236}">
                <a16:creationId xmlns:a16="http://schemas.microsoft.com/office/drawing/2014/main" id="{2EDC83DC-46B4-A7B8-3D6A-0FED772F94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30863" y="4475074"/>
            <a:ext cx="2388361" cy="2062363"/>
          </a:xfrm>
        </p:spPr>
      </p:pic>
      <p:pic>
        <p:nvPicPr>
          <p:cNvPr id="7" name="Kép 7" descr="A képen elektronika, fedett pályás, útválasztó, számítógép látható&#10;&#10;Automatikusan generált leírás">
            <a:extLst>
              <a:ext uri="{FF2B5EF4-FFF2-40B4-BE49-F238E27FC236}">
                <a16:creationId xmlns:a16="http://schemas.microsoft.com/office/drawing/2014/main" id="{99AEB0B0-DFE9-0861-8407-9FDD98D45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5046" y="4486007"/>
            <a:ext cx="2556189" cy="2060889"/>
          </a:xfrm>
          <a:prstGeom prst="rect">
            <a:avLst/>
          </a:prstGeom>
        </p:spPr>
      </p:pic>
      <p:pic>
        <p:nvPicPr>
          <p:cNvPr id="8" name="Kép 8" descr="A képen szöveg, elektronika, computer, számítógép látható&#10;&#10;Automatikusan generált leírás">
            <a:extLst>
              <a:ext uri="{FF2B5EF4-FFF2-40B4-BE49-F238E27FC236}">
                <a16:creationId xmlns:a16="http://schemas.microsoft.com/office/drawing/2014/main" id="{5CC31CCB-FFAE-D789-7CB3-BD7172F9D0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288" y="2547263"/>
            <a:ext cx="2764664" cy="1924461"/>
          </a:xfrm>
          <a:prstGeom prst="rect">
            <a:avLst/>
          </a:prstGeom>
        </p:spPr>
      </p:pic>
      <p:pic>
        <p:nvPicPr>
          <p:cNvPr id="9" name="Kép 9" descr="A képen szöveg, monitor, elektronika látható&#10;&#10;Automatikusan generált leírás">
            <a:extLst>
              <a:ext uri="{FF2B5EF4-FFF2-40B4-BE49-F238E27FC236}">
                <a16:creationId xmlns:a16="http://schemas.microsoft.com/office/drawing/2014/main" id="{B5691CC1-8A0F-6D76-C746-C07D8C3C18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342" y="358061"/>
            <a:ext cx="3226023" cy="415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2011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6A4B83D-1094-745E-DB0E-07AB1180A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184" y="348205"/>
            <a:ext cx="10018713" cy="826625"/>
          </a:xfrm>
        </p:spPr>
        <p:txBody>
          <a:bodyPr/>
          <a:lstStyle/>
          <a:p>
            <a:r>
              <a:rPr lang="hu-HU" sz="4400" b="1" dirty="0" err="1"/>
              <a:t>Packet</a:t>
            </a:r>
            <a:r>
              <a:rPr lang="hu-HU" sz="4400" b="1" dirty="0"/>
              <a:t> </a:t>
            </a:r>
            <a:r>
              <a:rPr lang="hu-HU" sz="4400" b="1" dirty="0" err="1"/>
              <a:t>Tracer</a:t>
            </a:r>
            <a:endParaRPr lang="hu-HU" dirty="0" err="1"/>
          </a:p>
        </p:txBody>
      </p:sp>
      <p:pic>
        <p:nvPicPr>
          <p:cNvPr id="5" name="Kép 5" descr="A képen diagram látható&#10;&#10;Automatikusan generált leírás">
            <a:extLst>
              <a:ext uri="{FF2B5EF4-FFF2-40B4-BE49-F238E27FC236}">
                <a16:creationId xmlns:a16="http://schemas.microsoft.com/office/drawing/2014/main" id="{86DCD4D8-2B72-C60C-17EB-52E77A66DF2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84312" y="1307817"/>
            <a:ext cx="10176070" cy="5197534"/>
          </a:xfrm>
        </p:spPr>
      </p:pic>
      <p:sp>
        <p:nvSpPr>
          <p:cNvPr id="4" name="Tartalom helye 3">
            <a:extLst>
              <a:ext uri="{FF2B5EF4-FFF2-40B4-BE49-F238E27FC236}">
                <a16:creationId xmlns:a16="http://schemas.microsoft.com/office/drawing/2014/main" id="{74337EE3-D035-411F-3C1E-B524A89A78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251546" y="5403760"/>
            <a:ext cx="1251477" cy="387440"/>
          </a:xfrm>
        </p:spPr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299533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D9CF83-8748-9BF7-564D-3CC36AC17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297" y="2274194"/>
            <a:ext cx="10018713" cy="1752599"/>
          </a:xfrm>
        </p:spPr>
        <p:txBody>
          <a:bodyPr/>
          <a:lstStyle/>
          <a:p>
            <a:r>
              <a:rPr lang="hu-HU" b="1" dirty="0">
                <a:latin typeface="Calibri"/>
                <a:cs typeface="Calibri"/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1098324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5</Slides>
  <Notes>0</Notes>
  <HiddenSlides>1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6" baseType="lpstr">
      <vt:lpstr>Parallax</vt:lpstr>
      <vt:lpstr>Videóvágó és képszerkesztő</vt:lpstr>
      <vt:lpstr>Tanárúrtól kaptunk egy feladatot hogy készítsünk egy kisvállalkozást.</vt:lpstr>
      <vt:lpstr>Samsung Galaxy A33 5G 6/128GB Dual SIM (3DB) –&gt;  372 684 Dell Inspiron 5510 Silver (3DB) --&gt; 1 535 156 Segotep SG-CL (3DB) --&gt; 2 456 321 CATALYST 2960-8TC MANAGED SWITCH WS-C2960-8TC-L (2db) --&gt; 235 167 Linksys Max-Stream MR6350 Dual-Band Mesh Router (2DB) --&gt; 356 212         </vt:lpstr>
      <vt:lpstr>Packet Tracer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/>
  <cp:lastModifiedBy/>
  <cp:revision>249</cp:revision>
  <dcterms:created xsi:type="dcterms:W3CDTF">2023-05-14T11:10:42Z</dcterms:created>
  <dcterms:modified xsi:type="dcterms:W3CDTF">2023-05-18T18:19:46Z</dcterms:modified>
</cp:coreProperties>
</file>